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lly Njoka" userId="9b15fa47-9da6-47a2-80bd-85d0985eb69d" providerId="ADAL" clId="{E95E3FAF-EA8B-47BD-A85F-83C024B7E984}"/>
    <pc:docChg chg="delSld modSld delMainMaster">
      <pc:chgData name="Billy Njoka" userId="9b15fa47-9da6-47a2-80bd-85d0985eb69d" providerId="ADAL" clId="{E95E3FAF-EA8B-47BD-A85F-83C024B7E984}" dt="2026-05-22T20:43:09.889" v="76" actId="20577"/>
      <pc:docMkLst>
        <pc:docMk/>
      </pc:docMkLst>
      <pc:sldChg chg="del">
        <pc:chgData name="Billy Njoka" userId="9b15fa47-9da6-47a2-80bd-85d0985eb69d" providerId="ADAL" clId="{E95E3FAF-EA8B-47BD-A85F-83C024B7E984}" dt="2026-05-22T20:17:18.368" v="0" actId="2696"/>
        <pc:sldMkLst>
          <pc:docMk/>
          <pc:sldMk cId="345696589" sldId="256"/>
        </pc:sldMkLst>
      </pc:sldChg>
      <pc:sldChg chg="modSp mod">
        <pc:chgData name="Billy Njoka" userId="9b15fa47-9da6-47a2-80bd-85d0985eb69d" providerId="ADAL" clId="{E95E3FAF-EA8B-47BD-A85F-83C024B7E984}" dt="2026-05-22T20:18:04.739" v="37" actId="114"/>
        <pc:sldMkLst>
          <pc:docMk/>
          <pc:sldMk cId="0" sldId="257"/>
        </pc:sldMkLst>
        <pc:spChg chg="mod">
          <ac:chgData name="Billy Njoka" userId="9b15fa47-9da6-47a2-80bd-85d0985eb69d" providerId="ADAL" clId="{E95E3FAF-EA8B-47BD-A85F-83C024B7E984}" dt="2026-05-22T20:18:04.739" v="37" actId="114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Billy Njoka" userId="9b15fa47-9da6-47a2-80bd-85d0985eb69d" providerId="ADAL" clId="{E95E3FAF-EA8B-47BD-A85F-83C024B7E984}" dt="2026-05-22T20:43:09.889" v="76" actId="20577"/>
        <pc:sldMkLst>
          <pc:docMk/>
          <pc:sldMk cId="0" sldId="270"/>
        </pc:sldMkLst>
        <pc:spChg chg="mod">
          <ac:chgData name="Billy Njoka" userId="9b15fa47-9da6-47a2-80bd-85d0985eb69d" providerId="ADAL" clId="{E95E3FAF-EA8B-47BD-A85F-83C024B7E984}" dt="2026-05-22T20:42:33.957" v="49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Billy Njoka" userId="9b15fa47-9da6-47a2-80bd-85d0985eb69d" providerId="ADAL" clId="{E95E3FAF-EA8B-47BD-A85F-83C024B7E984}" dt="2026-05-22T20:43:09.889" v="76" actId="20577"/>
          <ac:spMkLst>
            <pc:docMk/>
            <pc:sldMk cId="0" sldId="270"/>
            <ac:spMk id="37" creationId="{00000000-0000-0000-0000-000000000000}"/>
          </ac:spMkLst>
        </pc:spChg>
      </pc:sldChg>
      <pc:sldMasterChg chg="del delSldLayout">
        <pc:chgData name="Billy Njoka" userId="9b15fa47-9da6-47a2-80bd-85d0985eb69d" providerId="ADAL" clId="{E95E3FAF-EA8B-47BD-A85F-83C024B7E984}" dt="2026-05-22T20:17:18.368" v="0" actId="2696"/>
        <pc:sldMasterMkLst>
          <pc:docMk/>
          <pc:sldMasterMk cId="1020745126" sldId="2147483648"/>
        </pc:sldMasterMkLst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3355177392" sldId="2147483649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3685249284" sldId="2147483650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4133198921" sldId="2147483651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1633409817" sldId="2147483652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1919896120" sldId="2147483653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2396490209" sldId="2147483654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2502680456" sldId="2147483655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2698530105" sldId="2147483656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4211039948" sldId="2147483657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2555543735" sldId="2147483658"/>
          </pc:sldLayoutMkLst>
        </pc:sldLayoutChg>
        <pc:sldLayoutChg chg="del">
          <pc:chgData name="Billy Njoka" userId="9b15fa47-9da6-47a2-80bd-85d0985eb69d" providerId="ADAL" clId="{E95E3FAF-EA8B-47BD-A85F-83C024B7E984}" dt="2026-05-22T20:17:18.368" v="0" actId="2696"/>
          <pc:sldLayoutMkLst>
            <pc:docMk/>
            <pc:sldMasterMk cId="1020745126" sldId="2147483648"/>
            <pc:sldLayoutMk cId="2945007979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Filled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Eastern Highlands</c:v>
                </c:pt>
                <c:pt idx="1">
                  <c:v>NCD</c:v>
                </c:pt>
                <c:pt idx="2">
                  <c:v>Simbu</c:v>
                </c:pt>
                <c:pt idx="3">
                  <c:v>West Sepik</c:v>
                </c:pt>
                <c:pt idx="4">
                  <c:v>Hela</c:v>
                </c:pt>
                <c:pt idx="5">
                  <c:v>Gulf</c:v>
                </c:pt>
                <c:pt idx="6">
                  <c:v>Jiwaka</c:v>
                </c:pt>
                <c:pt idx="7">
                  <c:v>Morobe</c:v>
                </c:pt>
                <c:pt idx="8">
                  <c:v>Southern Highlands</c:v>
                </c:pt>
                <c:pt idx="9">
                  <c:v>East Sepik</c:v>
                </c:pt>
                <c:pt idx="10">
                  <c:v>West New Britain</c:v>
                </c:pt>
                <c:pt idx="11">
                  <c:v>Madang</c:v>
                </c:pt>
                <c:pt idx="12">
                  <c:v>New Ireland</c:v>
                </c:pt>
                <c:pt idx="13">
                  <c:v>Milne Bay</c:v>
                </c:pt>
                <c:pt idx="14">
                  <c:v>Oro/Northern</c:v>
                </c:pt>
                <c:pt idx="15">
                  <c:v>Enga</c:v>
                </c:pt>
                <c:pt idx="16">
                  <c:v>East New Britain</c:v>
                </c:pt>
                <c:pt idx="17">
                  <c:v>Western Highlands</c:v>
                </c:pt>
                <c:pt idx="18">
                  <c:v>Central</c:v>
                </c:pt>
                <c:pt idx="19">
                  <c:v>Manus</c:v>
                </c:pt>
                <c:pt idx="20">
                  <c:v>Western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87</c:v>
                </c:pt>
                <c:pt idx="1">
                  <c:v>85</c:v>
                </c:pt>
                <c:pt idx="2">
                  <c:v>84</c:v>
                </c:pt>
                <c:pt idx="3">
                  <c:v>73</c:v>
                </c:pt>
                <c:pt idx="4">
                  <c:v>72</c:v>
                </c:pt>
                <c:pt idx="5">
                  <c:v>68</c:v>
                </c:pt>
                <c:pt idx="6">
                  <c:v>67</c:v>
                </c:pt>
                <c:pt idx="7">
                  <c:v>66</c:v>
                </c:pt>
                <c:pt idx="8">
                  <c:v>62</c:v>
                </c:pt>
                <c:pt idx="9">
                  <c:v>60</c:v>
                </c:pt>
                <c:pt idx="10">
                  <c:v>60</c:v>
                </c:pt>
                <c:pt idx="11">
                  <c:v>59</c:v>
                </c:pt>
                <c:pt idx="12">
                  <c:v>57</c:v>
                </c:pt>
                <c:pt idx="13">
                  <c:v>56</c:v>
                </c:pt>
                <c:pt idx="14">
                  <c:v>52</c:v>
                </c:pt>
                <c:pt idx="15">
                  <c:v>52</c:v>
                </c:pt>
                <c:pt idx="16">
                  <c:v>45</c:v>
                </c:pt>
                <c:pt idx="17">
                  <c:v>43</c:v>
                </c:pt>
                <c:pt idx="18">
                  <c:v>33</c:v>
                </c:pt>
                <c:pt idx="19">
                  <c:v>31</c:v>
                </c:pt>
                <c:pt idx="2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62-4766-AF9F-BFD7D4D73E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Vacant (%)</c:v>
                </c:pt>
              </c:strCache>
            </c:strRef>
          </c:tx>
          <c:spPr>
            <a:solidFill>
              <a:srgbClr val="E8E8E8"/>
            </a:solidFill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Eastern Highlands</c:v>
                </c:pt>
                <c:pt idx="1">
                  <c:v>NCD</c:v>
                </c:pt>
                <c:pt idx="2">
                  <c:v>Simbu</c:v>
                </c:pt>
                <c:pt idx="3">
                  <c:v>West Sepik</c:v>
                </c:pt>
                <c:pt idx="4">
                  <c:v>Hela</c:v>
                </c:pt>
                <c:pt idx="5">
                  <c:v>Gulf</c:v>
                </c:pt>
                <c:pt idx="6">
                  <c:v>Jiwaka</c:v>
                </c:pt>
                <c:pt idx="7">
                  <c:v>Morobe</c:v>
                </c:pt>
                <c:pt idx="8">
                  <c:v>Southern Highlands</c:v>
                </c:pt>
                <c:pt idx="9">
                  <c:v>East Sepik</c:v>
                </c:pt>
                <c:pt idx="10">
                  <c:v>West New Britain</c:v>
                </c:pt>
                <c:pt idx="11">
                  <c:v>Madang</c:v>
                </c:pt>
                <c:pt idx="12">
                  <c:v>New Ireland</c:v>
                </c:pt>
                <c:pt idx="13">
                  <c:v>Milne Bay</c:v>
                </c:pt>
                <c:pt idx="14">
                  <c:v>Oro/Northern</c:v>
                </c:pt>
                <c:pt idx="15">
                  <c:v>Enga</c:v>
                </c:pt>
                <c:pt idx="16">
                  <c:v>East New Britain</c:v>
                </c:pt>
                <c:pt idx="17">
                  <c:v>Western Highlands</c:v>
                </c:pt>
                <c:pt idx="18">
                  <c:v>Central</c:v>
                </c:pt>
                <c:pt idx="19">
                  <c:v>Manus</c:v>
                </c:pt>
                <c:pt idx="20">
                  <c:v>Western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13</c:v>
                </c:pt>
                <c:pt idx="1">
                  <c:v>15</c:v>
                </c:pt>
                <c:pt idx="2">
                  <c:v>16</c:v>
                </c:pt>
                <c:pt idx="3">
                  <c:v>27</c:v>
                </c:pt>
                <c:pt idx="4">
                  <c:v>28</c:v>
                </c:pt>
                <c:pt idx="5">
                  <c:v>32</c:v>
                </c:pt>
                <c:pt idx="6">
                  <c:v>33</c:v>
                </c:pt>
                <c:pt idx="7">
                  <c:v>34</c:v>
                </c:pt>
                <c:pt idx="8">
                  <c:v>38</c:v>
                </c:pt>
                <c:pt idx="9">
                  <c:v>40</c:v>
                </c:pt>
                <c:pt idx="10">
                  <c:v>40</c:v>
                </c:pt>
                <c:pt idx="11">
                  <c:v>41</c:v>
                </c:pt>
                <c:pt idx="12">
                  <c:v>43</c:v>
                </c:pt>
                <c:pt idx="13">
                  <c:v>44</c:v>
                </c:pt>
                <c:pt idx="14">
                  <c:v>48</c:v>
                </c:pt>
                <c:pt idx="15">
                  <c:v>48</c:v>
                </c:pt>
                <c:pt idx="16">
                  <c:v>55</c:v>
                </c:pt>
                <c:pt idx="17">
                  <c:v>57</c:v>
                </c:pt>
                <c:pt idx="18">
                  <c:v>67</c:v>
                </c:pt>
                <c:pt idx="19">
                  <c:v>69</c:v>
                </c:pt>
                <c:pt idx="20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62-4766-AF9F-BFD7D4D73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 %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Midwifery</c:v>
                </c:pt>
                <c:pt idx="1">
                  <c:v>Nursing</c:v>
                </c:pt>
                <c:pt idx="2">
                  <c:v>Medical Records</c:v>
                </c:pt>
                <c:pt idx="3">
                  <c:v>CHWs</c:v>
                </c:pt>
                <c:pt idx="4">
                  <c:v>Medical Social Wk</c:v>
                </c:pt>
                <c:pt idx="5">
                  <c:v>EHOs</c:v>
                </c:pt>
                <c:pt idx="6">
                  <c:v>Physiotherapists</c:v>
                </c:pt>
                <c:pt idx="7">
                  <c:v>HEOs</c:v>
                </c:pt>
                <c:pt idx="8">
                  <c:v>Pharmacists</c:v>
                </c:pt>
                <c:pt idx="9">
                  <c:v>Med Laboratory</c:v>
                </c:pt>
                <c:pt idx="10">
                  <c:v>Medical Doctors</c:v>
                </c:pt>
                <c:pt idx="11">
                  <c:v>Dental Officers</c:v>
                </c:pt>
                <c:pt idx="12">
                  <c:v>Med Imaging</c:v>
                </c:pt>
                <c:pt idx="13">
                  <c:v>Anaesthetic Offs</c:v>
                </c:pt>
                <c:pt idx="14">
                  <c:v>Biomedical Eng.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74</c:v>
                </c:pt>
                <c:pt idx="1">
                  <c:v>72</c:v>
                </c:pt>
                <c:pt idx="2">
                  <c:v>64</c:v>
                </c:pt>
                <c:pt idx="3">
                  <c:v>54</c:v>
                </c:pt>
                <c:pt idx="4">
                  <c:v>55</c:v>
                </c:pt>
                <c:pt idx="5">
                  <c:v>47</c:v>
                </c:pt>
                <c:pt idx="6">
                  <c:v>48</c:v>
                </c:pt>
                <c:pt idx="7">
                  <c:v>51</c:v>
                </c:pt>
                <c:pt idx="8">
                  <c:v>40</c:v>
                </c:pt>
                <c:pt idx="9">
                  <c:v>41</c:v>
                </c:pt>
                <c:pt idx="10">
                  <c:v>44</c:v>
                </c:pt>
                <c:pt idx="11">
                  <c:v>39</c:v>
                </c:pt>
                <c:pt idx="12">
                  <c:v>35</c:v>
                </c:pt>
                <c:pt idx="13">
                  <c:v>26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A-4059-BE75-ECAE3332C9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Medical Doctors</c:v>
                </c:pt>
              </c:strCache>
            </c:strRef>
          </c:tx>
          <c:spPr>
            <a:solidFill>
              <a:srgbClr val="1A44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Eastern Highlands</c:v>
                </c:pt>
                <c:pt idx="1">
                  <c:v>Morobe</c:v>
                </c:pt>
                <c:pt idx="2">
                  <c:v>Madang</c:v>
                </c:pt>
                <c:pt idx="3">
                  <c:v>Simbu</c:v>
                </c:pt>
                <c:pt idx="4">
                  <c:v>NCD</c:v>
                </c:pt>
                <c:pt idx="5">
                  <c:v>Western Highlands</c:v>
                </c:pt>
                <c:pt idx="6">
                  <c:v>East New Britain</c:v>
                </c:pt>
                <c:pt idx="7">
                  <c:v>Milne Bay</c:v>
                </c:pt>
                <c:pt idx="8">
                  <c:v>Hela</c:v>
                </c:pt>
                <c:pt idx="9">
                  <c:v>East Sepik</c:v>
                </c:pt>
                <c:pt idx="10">
                  <c:v>Southern Highlands</c:v>
                </c:pt>
                <c:pt idx="11">
                  <c:v>Enga</c:v>
                </c:pt>
                <c:pt idx="12">
                  <c:v>Manus</c:v>
                </c:pt>
                <c:pt idx="13">
                  <c:v>West New Britain</c:v>
                </c:pt>
                <c:pt idx="14">
                  <c:v>New Ireland</c:v>
                </c:pt>
                <c:pt idx="15">
                  <c:v>Western</c:v>
                </c:pt>
                <c:pt idx="16">
                  <c:v>West Sepik</c:v>
                </c:pt>
                <c:pt idx="17">
                  <c:v>Central</c:v>
                </c:pt>
                <c:pt idx="18">
                  <c:v>Oro/Northern</c:v>
                </c:pt>
                <c:pt idx="19">
                  <c:v>Gulf</c:v>
                </c:pt>
                <c:pt idx="20">
                  <c:v>Jiwaka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34</c:v>
                </c:pt>
                <c:pt idx="1">
                  <c:v>21</c:v>
                </c:pt>
                <c:pt idx="2">
                  <c:v>18</c:v>
                </c:pt>
                <c:pt idx="3">
                  <c:v>19</c:v>
                </c:pt>
                <c:pt idx="4">
                  <c:v>11</c:v>
                </c:pt>
                <c:pt idx="5">
                  <c:v>15</c:v>
                </c:pt>
                <c:pt idx="6">
                  <c:v>18</c:v>
                </c:pt>
                <c:pt idx="7">
                  <c:v>12</c:v>
                </c:pt>
                <c:pt idx="8">
                  <c:v>11</c:v>
                </c:pt>
                <c:pt idx="9">
                  <c:v>13</c:v>
                </c:pt>
                <c:pt idx="10">
                  <c:v>13</c:v>
                </c:pt>
                <c:pt idx="11">
                  <c:v>5</c:v>
                </c:pt>
                <c:pt idx="12">
                  <c:v>5</c:v>
                </c:pt>
                <c:pt idx="13">
                  <c:v>2</c:v>
                </c:pt>
                <c:pt idx="14">
                  <c:v>4</c:v>
                </c:pt>
                <c:pt idx="15">
                  <c:v>6</c:v>
                </c:pt>
                <c:pt idx="16">
                  <c:v>5</c:v>
                </c:pt>
                <c:pt idx="17">
                  <c:v>2</c:v>
                </c:pt>
                <c:pt idx="18">
                  <c:v>1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BB-4D34-97B9-ACCEAE67F3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D1212-1741-4C1E-9EF0-C7648F108BA4}" type="datetimeFigureOut">
              <a:rPr lang="en-KE" smtClean="0"/>
              <a:t>23/05/2026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DEADB-F759-4973-89B6-963D4927D3B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5425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70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0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30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Papua New Guinea Country Office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Workforce Accounts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 Workforce Data Analysis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Papua New Guinea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3401568"/>
            <a:ext cx="2194560" cy="420624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2 FINDINGS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Billy Njoka | WHO Consultant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39136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for Health and Care Workforce Data Collection and Quality Improvement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B30"/>
          </a:solidFill>
          <a:ln w="12700">
            <a:solidFill>
              <a:srgbClr val="0A1B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6309360"/>
            <a:ext cx="1154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PNG  |  NDoH Workforce Standards Team  |  PHA Representatives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 May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61120" y="1097280"/>
            <a:ext cx="2926080" cy="4206240"/>
          </a:xfrm>
          <a:prstGeom prst="rect">
            <a:avLst/>
          </a:prstGeom>
          <a:solidFill>
            <a:srgbClr val="0A1B30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61120" y="1371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14,049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6112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filled positions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across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 provinces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235440" y="3703320"/>
            <a:ext cx="2377440" cy="2743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Alesco Payroll Extract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 November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0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E87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45.5%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61120" y="5285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EF3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vacancy rate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30-minute briefing  ·  WHO PNG  ·  NDoH  ·  PHA Representatives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09728" cy="1389888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A6F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Received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have: 21 PHA establishment files and the Alesco payroll extract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09728" cy="13898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Workforce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14,049 filled positions — who they are and where the vacancies sit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109728" cy="1389888"/>
          </a:xfrm>
          <a:prstGeom prst="rect">
            <a:avLst/>
          </a:prstGeom>
          <a:solidFill>
            <a:srgbClr val="1A4477"/>
          </a:solidFill>
          <a:ln w="12700">
            <a:solidFill>
              <a:srgbClr val="1A44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A44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Distribution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subnational breakdown of clinical cadres across all provinces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55080" y="1463040"/>
            <a:ext cx="109728" cy="1389888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1554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7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19659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Findings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37960" y="230428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discrepancies, classification issues, and anomalies requiring 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55080" y="3017520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3017520"/>
            <a:ext cx="109728" cy="13898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37960" y="3520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Cadre Mapping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37960" y="385876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framework for aligning PHA designations with NHWA categories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55080" y="4572000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4572000"/>
            <a:ext cx="109728" cy="13898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3796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50749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37960" y="541324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Six immediate actions before the June 2026 NHWA reporting window closes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Received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the PHA establishment files were extracted from the Alesco payroll system — the two datasets share a common origin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502920"/>
          </a:xfrm>
          <a:prstGeom prst="rect">
            <a:avLst/>
          </a:prstGeom>
          <a:solidFill>
            <a:srgbClr val="1A4477"/>
          </a:solidFill>
          <a:ln w="12700">
            <a:solidFill>
              <a:srgbClr val="1A44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 Establishment Files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 Excel files, one per province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two-level structure: section headers (cadre groups) and designation rows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Records: ceiling, in-post, vacancies, sex, and age bands per designation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cadres in the PHA establishment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Uses locally-defined designation labels — NOT standardised NHWA categories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 Extracted and reformatted FROM the Alesco payroll — not an independent source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Western Province flagged as incomplete by submitting office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6792" y="13716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6792" y="1371600"/>
            <a:ext cx="539496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6792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Alesco Payroll Extract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19672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workbook: 23 sheets (1 HQ + 22 provinces)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19672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approved position — no section headers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19672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Records: position title, award class, gender, date of birth, filled/vacant status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19672" y="3145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Vacant positions identified by '*****VACANT*****' in name field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9672" y="3529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Covers NDoH and PHA payroll staff only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9672" y="3913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NOT include faith-based, NGO, or development-partner staff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19672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date: 20 November 2025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A6F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4068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for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1B30"/>
          </a:solidFill>
          <a:ln w="12700">
            <a:solidFill>
              <a:srgbClr val="0A1B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Workforce Snapshot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Alesco Payroll Extract  ·  20 November 2025  ·  All provinces including NDoH HQ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633472" cy="141732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408176"/>
            <a:ext cx="26334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25,801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092147"/>
            <a:ext cx="263347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Approved Positions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432304"/>
            <a:ext cx="263347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establishment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27832" y="1298448"/>
            <a:ext cx="2633472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27832" y="1408176"/>
            <a:ext cx="26334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14,049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27832" y="2092147"/>
            <a:ext cx="263347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CCFF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Filled Positions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27832" y="2432304"/>
            <a:ext cx="263347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AADD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54.5% fill rate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89904" y="1298448"/>
            <a:ext cx="2633472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89904" y="1408176"/>
            <a:ext cx="26334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11,752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89904" y="2092147"/>
            <a:ext cx="263347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DD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Vacant Positions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89904" y="2432304"/>
            <a:ext cx="263347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FFBB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45.5% vacancy rate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51976" y="1298448"/>
            <a:ext cx="2633472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51976" y="1408176"/>
            <a:ext cx="26334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7,238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51976" y="2092147"/>
            <a:ext cx="2633472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Female Staff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51976" y="2432304"/>
            <a:ext cx="2633472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51.5% of filled posts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292608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30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CLINICAL CADRES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3310128"/>
            <a:ext cx="1078992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4,374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 Workers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549908" y="3310128"/>
            <a:ext cx="1078992" cy="2560320"/>
          </a:xfrm>
          <a:prstGeom prst="rect">
            <a:avLst/>
          </a:prstGeom>
          <a:solidFill>
            <a:srgbClr val="1A4477"/>
          </a:solidFill>
          <a:ln w="12700">
            <a:solidFill>
              <a:srgbClr val="1A44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49908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3,047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49908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Nursing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34056" y="3310128"/>
            <a:ext cx="1078992" cy="2560320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34056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459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34056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 Extension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Officers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918204" y="3310128"/>
            <a:ext cx="1078992" cy="256032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18204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918204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02352" y="3310128"/>
            <a:ext cx="1078992" cy="2560320"/>
          </a:xfrm>
          <a:prstGeom prst="rect">
            <a:avLst/>
          </a:prstGeom>
          <a:solidFill>
            <a:srgbClr val="0D6B8A"/>
          </a:solidFill>
          <a:ln w="12700">
            <a:solidFill>
              <a:srgbClr val="0D6B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02352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02352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Environ. Health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Officers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86500" y="3310128"/>
            <a:ext cx="1078992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86500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86500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Midwifery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70648" y="3310128"/>
            <a:ext cx="1078992" cy="2560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70648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70648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654796" y="3310128"/>
            <a:ext cx="1078992" cy="2560320"/>
          </a:xfrm>
          <a:prstGeom prst="rect">
            <a:avLst/>
          </a:prstGeom>
          <a:solidFill>
            <a:srgbClr val="285E8E"/>
          </a:solidFill>
          <a:ln w="12700">
            <a:solidFill>
              <a:srgbClr val="285E8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54796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654796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838944" y="3310128"/>
            <a:ext cx="1078992" cy="2560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838944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838944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Physiotherapists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1023092" y="3310128"/>
            <a:ext cx="1078992" cy="25603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023092" y="3364992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023092" y="4315968"/>
            <a:ext cx="107899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CDD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 Officers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65760" y="60533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Alesco payroll extract, 20 November 2025. Clinical cadres only. Excludes health management, administrative, and support staff.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Fill Rates: Wide Variation Across PNG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 rate = filled positions ÷ total approved positions  ·  Ordered from highest to lowest fill rate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1143000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Vacancy Burden: What the Numbers Mean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120700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74552" cy="120700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every 2 approved positions in PNG's public health system is unfilled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395728"/>
            <a:ext cx="3703320" cy="406908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370332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severe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Western Province: 76.0% vacant  (1,512 / 1,990)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35844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Manus Province: 68.9% vacant  (555 / 806)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42428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East New Britain: 55.1% vacant  (989 / 1,795)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49011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NDoH HQ: 62.1% vacant  (1,434 / 2,310)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70832" y="2395728"/>
            <a:ext cx="3703320" cy="4069080"/>
          </a:xfrm>
          <a:prstGeom prst="rect">
            <a:avLst/>
          </a:prstGeom>
          <a:solidFill>
            <a:srgbClr val="E6F4EA"/>
          </a:solidFill>
          <a:ln w="19050">
            <a:solidFill>
              <a:srgbClr val="1E7E3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70832" y="2395728"/>
            <a:ext cx="3703320" cy="420624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70832" y="239572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better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07992" y="2926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Eastern Highlands: 12.9% vacant  (134 / 1,038)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35844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Simbu: 15.7% vacant  (125 / 798)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07992" y="42428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NCD: 14.9% vacant  (86 / 576)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07992" y="49011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Hela: 28.5% vacant  (214 / 751)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84464" y="2395728"/>
            <a:ext cx="3703320" cy="4069080"/>
          </a:xfrm>
          <a:prstGeom prst="rect">
            <a:avLst/>
          </a:prstGeom>
          <a:solidFill>
            <a:srgbClr val="FEF3E0"/>
          </a:solidFill>
          <a:ln w="1905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84464" y="2395728"/>
            <a:ext cx="3703320" cy="420624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84464" y="239572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Western Province — flag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21624" y="2926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 file explicitly marked as incomplete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21624" y="35844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478 / 1,990 positions filled (24%)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21624" y="424281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Workers dominate filled posts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21624" y="49011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Must verify with Western PHA HR office before finalising nationals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Distribution: A First for PNG's NHWA Record  (1/2)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Filled positions across 12 key clinical cadres  ·  Public sector payroll only  ·  AROB not included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207008"/>
          <a:ext cx="8988552" cy="5504688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Clin.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 gridSpan="1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Jiwaka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 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 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 gridSpan="1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MOMASE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Sepik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Morobe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Sepik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6294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'—' = zero filled positions on payroll.  Continued on next slide.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Distribution: A First for PNG's NHWA Record  (2/2)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Filled positions across 12 key clinical cadres  ·  Public sector payroll only  ·  AROB not included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207008"/>
          <a:ext cx="8988552" cy="5504688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Clin.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 gridSpan="1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GUINEA ISLANDS (NGI)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New Britain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Ireland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New Britain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 gridSpan="1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Milne Bay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Oro/Northern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6294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'—' = zero filled positions on payroll. Total Clinical excludes management and support staff. Source: Alesco payroll extract, 20 November 2025.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Gender Composition and Medical Doctor Distribution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A44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Female % by cadre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5778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9875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A44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doctors by province (payroll-confirmed)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hart 1"/>
          <p:cNvGraphicFramePr/>
          <p:nvPr/>
        </p:nvGraphicFramePr>
        <p:xfrm>
          <a:off x="6126480" y="1371600"/>
          <a:ext cx="566928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Note: Jiwaka and Gulf record zero medical doctors on payroll — requires urgent verification with PHA HR offices.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Four Issues Requiring Resolution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issues must be resolved before data are submitted to the NHWA portal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02920" cy="2423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1208" y="1371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0120" y="1298448"/>
            <a:ext cx="507492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3167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Nursing-Midwifery Classification Overlap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0" y="1353312"/>
            <a:ext cx="105156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353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18013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large number of 'Nursing Officer' positions in the payroll are in fact performing midwifery functions. In Jiwaka alone, 41 filled positions carry titles such as 'Nursing Officer – Midwife' and 'Nursing Officer – FHS'. Nationally, the 133 midwifery personnel identified are a significant undercount. The NHWA framework requires these to be classified separately.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120" y="3182112"/>
            <a:ext cx="5074920" cy="53949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3209544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Title-by-title review of all Nursing Officer positions in the payroll, in consultation with the Nursing Council.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5080" y="1298448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55080" y="1298448"/>
            <a:ext cx="502920" cy="2423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19088" y="1371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0" y="1298448"/>
            <a:ext cx="5074920" cy="45720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0" y="13167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Doctor Discrepancy: PHA vs Payroll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835640" y="1353312"/>
            <a:ext cx="105156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35640" y="1353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18013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 establishment files show 1,367 medical doctors in-post nationally. The Alesco payroll confirms only 445 filled medical officer positions. The gap of 922 likely reflects doctors on development-partner funding, faith-based facilities, and contracted arrangements not on the NDoH payroll. Neither figure alone is the correct NHWA submission value.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858000" y="3182112"/>
            <a:ext cx="5074920" cy="53949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49440" y="3209544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reconciliation engaging PHA HR offices, NDoH HR, and development partners to account for all active doctors by funding source.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02920" cy="2423160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1208" y="4005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" y="3931920"/>
            <a:ext cx="5074920" cy="457200"/>
          </a:xfrm>
          <a:prstGeom prst="rect">
            <a:avLst/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51560" y="39502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7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 Data Almost Entirely Absent from Payroll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37760" y="3986784"/>
            <a:ext cx="1051560" cy="329184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37760" y="39867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51560" y="44348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28 of 14,049 filled positions (0.2%) carry a valid age entry in the Alesco extract. Age disaggregation is a core NHWA Module 1 requirement. The payroll cannot, in its current state, support age-disaggregated reporting.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60120" y="5815584"/>
            <a:ext cx="5074920" cy="53949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1560" y="5843016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Obtain age band data from professional council registers (Medical Board, Nursing Council, Pharmacy Board, Dental Board) as the alternative source.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3931920"/>
            <a:ext cx="5577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3931920"/>
            <a:ext cx="502920" cy="2423160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19088" y="4005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58000" y="3931920"/>
            <a:ext cx="5074920" cy="457200"/>
          </a:xfrm>
          <a:prstGeom prst="rect">
            <a:avLst/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49440" y="39502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87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Dentist-Pharmacist Identical Age Distribution on NHWA Portal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835640" y="3986784"/>
            <a:ext cx="1051560" cy="329184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835640" y="398678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49440" y="44348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 documented in the Output 1 Rapid Review, the 2024 NHWA portal submission shows identical age distributions for dentists and pharmacists — a statistical impossibility. The PHA establishment files provide an independent source to verify the actual age composition of both cadres.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858000" y="5815584"/>
            <a:ext cx="5074920" cy="539496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949440" y="5843016"/>
            <a:ext cx="4892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PHA age band data for dental and pharmacy cadres against council registers and correct the portal submission before the June 2026 cycle.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Triangulation: PHA Establishment vs Alesco Payroll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share a common Alesco origin — discrepancies reflect PHA supplementation, not system disagreement. Large gaps = non-payroll staff added by PHAs.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65760" y="1261872"/>
          <a:ext cx="9601200" cy="43251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 In-Post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Filled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Discrepancy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Doctors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Medical Officers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-1,544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Officers/Therapists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Laboratory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Imaging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Physiotherapists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Anaesthetic Officers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Social Workers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7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Nursing, CHW, HEO, and EHO cadres excluded — PHA template does not record sub-row breakdowns for these sections in most provinces.  Note: PHA in-post figures include development-partner-funded, faith-based, and contracted staff not on the Alesco payroll — explaining large gaps for medical doctors (-922) and specialist medical officers (-1,544).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Proposed NHWA Cadre Mapping Framework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standard for aligning PHA and payroll designations with NHWA occupational categories — for endorsement today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50" normalizeH="0" baseline="0" noProof="0" dirty="0">
                <a:ln>
                  <a:noFill/>
                </a:ln>
                <a:solidFill>
                  <a:srgbClr val="1A44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GUIDING PRINCIPLES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57200" cy="1234440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627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 prevails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198424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a title is ambiguous, the primary clinical function determines the NHWA category — not the administrative grade. A 'Nursing Officer – Midwife' maps to Midwifery Personnel.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0832" y="1572768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70832" y="1572768"/>
            <a:ext cx="457200" cy="1234440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16552" y="1572768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category applies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19472" y="198424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most specific applicable NHWA category. A General Surgeon maps to Specialist Medical Officers, not Medical Doctors.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84464" y="1572768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84464" y="1572768"/>
            <a:ext cx="457200" cy="1234440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30184" y="1572768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33104" y="16276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D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 most-specific first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33104" y="198424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applying keyword matching to payroll titles, check Specialist Medical Officer before Medical Officer — or a SSMO will be misclassified.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50" normalizeH="0" baseline="0" noProof="0" dirty="0">
                <a:ln>
                  <a:noFill/>
                </a:ln>
                <a:solidFill>
                  <a:srgbClr val="1A44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SAMPLE MAPPING — KEY CADRES REQUIRING ATTENTION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365760" y="3291840"/>
          <a:ext cx="11064240" cy="2852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NHWA Cadre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FROM (payroll/PHA designation examples)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include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watch-point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4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 Personnel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 Officer (all classes) — where primary function is nursing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NOs with Midwife, Midwifery, or FHS in title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function review required nationally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Midwifery Personnel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Nursing Officer – Midwife, Nursing Officer Midwife – [Facility], Nursing Officer – FHS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nursing officers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a significant undercount in the payroll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Doctors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Officer, RMO Yr1/Yr2, Medical Superintendent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Medical Officers, SMOs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Jiwaka and Gulf zero counts urgently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Medical Officers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Medical Officer (all classes), SSMO, General Surgeon, Paediatrician, Obstetrician, Emergency Physician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Officers, RMOs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SMO keywords BEFORE MO keywords in payroll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Health Workers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Health Worker (all levels), CHW, Village Health Assistant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Extension Officers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covers public-sector CHWs only — large non-payroll CHW population exists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 framework: PNG_NHWA_Output2_Technical_Support_May2026.docx, Section 6  ·  Full methodology: PNG_NHWA_Methodology_Note_May2026.docx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A1B30"/>
          </a:solidFill>
          <a:ln w="12700">
            <a:solidFill>
              <a:srgbClr val="0A1B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Six Immediate Actions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commitments needed before the June 2026 NHWA reporting window closes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5669280" cy="1664208"/>
          </a:xfrm>
          <a:prstGeom prst="rect">
            <a:avLst/>
          </a:prstGeom>
          <a:solidFill>
            <a:srgbClr val="0E22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48640" cy="1664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624" y="1207008"/>
            <a:ext cx="438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13350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Jiwaka &amp; Gulf verification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171907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 immediately with Jiwaka and Gulf PHA HR offices whether medical officers are deployed in those provinces, and on what funding mechanism.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24128" y="2505456"/>
            <a:ext cx="1828800" cy="2743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4128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Owner: PHA HR Offices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2505456"/>
            <a:ext cx="1627632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0" y="25054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81928" y="1207008"/>
            <a:ext cx="5669280" cy="1664208"/>
          </a:xfrm>
          <a:prstGeom prst="rect">
            <a:avLst/>
          </a:prstGeom>
          <a:solidFill>
            <a:srgbClr val="0E22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81928" y="1207008"/>
            <a:ext cx="548640" cy="1664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6792" y="1207008"/>
            <a:ext cx="438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40296" y="13350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Nursing-midwifery classification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0296" y="171907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Agree a classification protocol with the Nursing Council for distinguishing nursing from midwifery positions. Apply to all payroll titles nationally.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40296" y="2505456"/>
            <a:ext cx="1828800" cy="2743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0296" y="2505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Owner: Nursing Council + NDoH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213848" y="2505456"/>
            <a:ext cx="1627632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213848" y="25054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5669280" cy="1664208"/>
          </a:xfrm>
          <a:prstGeom prst="rect">
            <a:avLst/>
          </a:prstGeom>
          <a:solidFill>
            <a:srgbClr val="0E22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548640" cy="1664208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0624" y="3017520"/>
            <a:ext cx="438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4128" y="31455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Endorse cadre mapping framework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24128" y="352958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Formally adopt the proposed cadre mapping framework as the national NHWA standard. Distribute to all 22 PHA HR Managers for the recategorisation exercise.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24128" y="4315968"/>
            <a:ext cx="1828800" cy="2743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24128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Owner: NHWA Focal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97680" y="4315968"/>
            <a:ext cx="1627632" cy="274320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97680" y="43159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meeting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81928" y="3017520"/>
            <a:ext cx="5669280" cy="1664208"/>
          </a:xfrm>
          <a:prstGeom prst="rect">
            <a:avLst/>
          </a:prstGeom>
          <a:solidFill>
            <a:srgbClr val="0E22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81928" y="3017520"/>
            <a:ext cx="548640" cy="1664208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36792" y="3017520"/>
            <a:ext cx="438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40296" y="31455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the data collection toolkit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940296" y="352958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Circulate the NHWA Data Collection Toolkit to all PHA HR offices, training schools, the MEU, and the four regulatory councils. Returns due before June 2026 submission window.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40296" y="4315968"/>
            <a:ext cx="1828800" cy="2743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40296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Owner: NHWA Focal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213848" y="4315968"/>
            <a:ext cx="1627632" cy="274320"/>
          </a:xfrm>
          <a:prstGeom prst="rect">
            <a:avLst/>
          </a:prstGeom>
          <a:solidFill>
            <a:srgbClr val="E8781A"/>
          </a:solidFill>
          <a:ln w="12700">
            <a:solidFill>
              <a:srgbClr val="E878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213848" y="431596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65760" y="4828032"/>
            <a:ext cx="5669280" cy="1664208"/>
          </a:xfrm>
          <a:prstGeom prst="rect">
            <a:avLst/>
          </a:prstGeom>
          <a:solidFill>
            <a:srgbClr val="0E22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65760" y="4828032"/>
            <a:ext cx="548640" cy="16642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20624" y="4828032"/>
            <a:ext cx="438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24128" y="49560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 data from council registers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24128" y="534009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Initiate formal data requests to the Medical Board, Nursing Council, Pharmacy Board, and Dental Board for age-disaggregated registration data.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24128" y="6126480"/>
            <a:ext cx="1828800" cy="2743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24128" y="6126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Owner: NHWA Focal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97680" y="6126480"/>
            <a:ext cx="162763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297680" y="6126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81928" y="4828032"/>
            <a:ext cx="5669280" cy="1664208"/>
          </a:xfrm>
          <a:prstGeom prst="rect">
            <a:avLst/>
          </a:prstGeom>
          <a:solidFill>
            <a:srgbClr val="0E22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281928" y="4828032"/>
            <a:ext cx="548640" cy="16642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336792" y="4828032"/>
            <a:ext cx="4389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940296" y="49560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doctor reconciliation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940296" y="534009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ABB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PHA in-post figures (1,367) against payroll (445) — accounting for development-partner-funded, faith-based, and contracted staff — to produce a single source-attributed count.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940296" y="6126480"/>
            <a:ext cx="1828800" cy="2743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940296" y="6126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899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Owner: NDoH HR + PHAs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0213848" y="6126480"/>
            <a:ext cx="162763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213848" y="6126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20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PNG now has the data to produce a more complete NHWA submission.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2311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subnational distribution data across 21 provinces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Gender disaggregation available for all major cadres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Vacancy profile documented for every province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80390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73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8221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Allied health cadres available for NHWA reporting for the first time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33425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7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435254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0C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 files and payroll share a common Alesco origin — large gaps reflect non-payroll staff, not system error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7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488289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0C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fixes and toolkit distribution must begin immediately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6800" y="457200"/>
            <a:ext cx="3200400" cy="5943600"/>
          </a:xfrm>
          <a:prstGeom prst="rect">
            <a:avLst/>
          </a:prstGeom>
          <a:solidFill>
            <a:srgbClr val="0A1B30"/>
          </a:solidFill>
          <a:ln w="12700">
            <a:solidFill>
              <a:srgbClr val="1122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78240" y="594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Report Documents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69680" y="1024128"/>
            <a:ext cx="2834640" cy="2743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23960" y="822960"/>
            <a:ext cx="2926080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23960" y="822960"/>
            <a:ext cx="109728" cy="1261872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06840" y="8869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1 Report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06840" y="121615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Rapid Review of NHWA Submissions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23960" y="2212848"/>
            <a:ext cx="2926080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823960" y="2212848"/>
            <a:ext cx="109728" cy="1261872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006840" y="22768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2 Report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06840" y="26060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for Data Collection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Quality Improvement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823960" y="3602736"/>
            <a:ext cx="2926080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823960" y="3602736"/>
            <a:ext cx="109728" cy="1261872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006840" y="36667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Toolkit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006840" y="399592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Four NHWA-aligned templates for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PHAs, Training Schools,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Councils &amp; Finance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823960" y="4992624"/>
            <a:ext cx="2926080" cy="1261872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23960" y="4992624"/>
            <a:ext cx="109728" cy="1261872"/>
          </a:xfrm>
          <a:prstGeom prst="rect">
            <a:avLst/>
          </a:prstGeom>
          <a:solidFill>
            <a:srgbClr val="1A6FAF"/>
          </a:solidFill>
          <a:ln w="12700">
            <a:solidFill>
              <a:srgbClr val="1A6F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06840" y="50566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06840" y="538581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Ten-Step Analytical Framework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D5E8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5989320"/>
            <a:ext cx="813816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5989320"/>
            <a:ext cx="795528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June 2026 reporting window is open. With the actions agreed today, PNG's 2025 NHWA submission can be better than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previous cycles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2373</Words>
  <Application>Microsoft Office PowerPoint</Application>
  <PresentationFormat>Widescreen</PresentationFormat>
  <Paragraphs>653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Njoka</dc:creator>
  <cp:lastModifiedBy>Billy Njoka</cp:lastModifiedBy>
  <cp:revision>1</cp:revision>
  <dcterms:created xsi:type="dcterms:W3CDTF">2026-05-22T20:16:55Z</dcterms:created>
  <dcterms:modified xsi:type="dcterms:W3CDTF">2026-05-22T21:12:38Z</dcterms:modified>
</cp:coreProperties>
</file>